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2A3A"/>
          </a:solidFill>
          <a:ln w="12700">
            <a:solidFill>
              <a:srgbClr val="1A2A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097280"/>
            <a:ext cx="841248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Recommendation API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65760" y="2148840"/>
            <a:ext cx="84124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COMP3011 Web Services and Web Data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ID: sc22cz  |  March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 ·  SQLite  ·  4,404 Spotify Tracks  ·  JWT Auth  ·  16 Tests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011680" cy="1371600"/>
          </a:xfrm>
          <a:prstGeom prst="rect">
            <a:avLst/>
          </a:prstGeom>
          <a:solidFill>
            <a:srgbClr val="0F1923"/>
          </a:solidFill>
          <a:ln w="12700">
            <a:solidFill>
              <a:srgbClr val="1DB954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51560"/>
            <a:ext cx="201168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4,404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74320" y="1737360"/>
            <a:ext cx="20116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 tracks imported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05840"/>
            <a:ext cx="2011680" cy="1371600"/>
          </a:xfrm>
          <a:prstGeom prst="rect">
            <a:avLst/>
          </a:prstGeom>
          <a:solidFill>
            <a:srgbClr val="0F1923"/>
          </a:solidFill>
          <a:ln w="12700">
            <a:solidFill>
              <a:srgbClr val="1DB954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60320" y="1051560"/>
            <a:ext cx="201168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560320" y="1737360"/>
            <a:ext cx="20116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1005840"/>
            <a:ext cx="2011680" cy="1371600"/>
          </a:xfrm>
          <a:prstGeom prst="rect">
            <a:avLst/>
          </a:prstGeom>
          <a:solidFill>
            <a:srgbClr val="0F1923"/>
          </a:solidFill>
          <a:ln w="12700">
            <a:solidFill>
              <a:srgbClr val="1DB954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1051560"/>
            <a:ext cx="201168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20116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tests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132320" y="1005840"/>
            <a:ext cx="2011680" cy="1371600"/>
          </a:xfrm>
          <a:prstGeom prst="rect">
            <a:avLst/>
          </a:prstGeom>
          <a:solidFill>
            <a:srgbClr val="0F1923"/>
          </a:solidFill>
          <a:ln w="12700">
            <a:solidFill>
              <a:srgbClr val="1DB954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132320" y="1051560"/>
            <a:ext cx="201168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132320" y="1737360"/>
            <a:ext cx="20116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models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" y="2560320"/>
            <a:ext cx="8595360" cy="2194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RESTful API for music discovery and recommendation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Spotify audio features: danceability, energy, valence, tempo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CRUD, content-based recommendations, analytics, and JWT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FastAPI (Python) + SQLite + SQLAlchemy ORM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F7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8595360" cy="658368"/>
          </a:xfrm>
          <a:prstGeom prst="rect">
            <a:avLst/>
          </a:prstGeom>
          <a:solidFill>
            <a:srgbClr val="1A2A3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960120"/>
            <a:ext cx="54864" cy="658368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96696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Swagger docs, Pydantic validation, minimal boilerplate vs Django REST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737360"/>
            <a:ext cx="8595360" cy="658368"/>
          </a:xfrm>
          <a:prstGeom prst="rect">
            <a:avLst/>
          </a:prstGeom>
          <a:solidFill>
            <a:srgbClr val="1A2A3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737360"/>
            <a:ext cx="54864" cy="658368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773936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+ SQLAlchemy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05740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Zero-config, file-based DB; ORM prevents SQL injection, easy to migrate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514600"/>
            <a:ext cx="8595360" cy="658368"/>
          </a:xfrm>
          <a:prstGeom prst="rect">
            <a:avLst/>
          </a:prstGeom>
          <a:solidFill>
            <a:srgbClr val="1A2A3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514600"/>
            <a:ext cx="54864" cy="658368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551176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283464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 and response serialisation with type safety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291840"/>
            <a:ext cx="8595360" cy="658368"/>
          </a:xfrm>
          <a:prstGeom prst="rect">
            <a:avLst/>
          </a:prstGeom>
          <a:solidFill>
            <a:srgbClr val="1A2A3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" y="3291840"/>
            <a:ext cx="54864" cy="658368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328416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Python-Jose + Passlib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36118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JWT tokens and bcrypt password hashing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4069080"/>
            <a:ext cx="8595360" cy="658368"/>
          </a:xfrm>
          <a:prstGeom prst="rect">
            <a:avLst/>
          </a:prstGeom>
          <a:solidFill>
            <a:srgbClr val="1A2A3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4069080"/>
            <a:ext cx="54864" cy="658368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105656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TestClient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438912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automated tests covering CRUD, auth, and recommendations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188720" cy="640080"/>
          </a:xfrm>
          <a:prstGeom prst="rect">
            <a:avLst/>
          </a:prstGeom>
          <a:solidFill>
            <a:srgbClr val="2C5F7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188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645920" y="1325880"/>
            <a:ext cx="182880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0" y="1005840"/>
            <a:ext cx="1188720" cy="640080"/>
          </a:xfrm>
          <a:prstGeom prst="rect">
            <a:avLst/>
          </a:prstGeom>
          <a:solidFill>
            <a:srgbClr val="1A3A5C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1005840"/>
            <a:ext cx="1188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App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17520" y="1325880"/>
            <a:ext cx="182880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1005840"/>
            <a:ext cx="1188720" cy="640080"/>
          </a:xfrm>
          <a:prstGeom prst="rect">
            <a:avLst/>
          </a:prstGeom>
          <a:solidFill>
            <a:srgbClr val="1A3A5C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005840"/>
            <a:ext cx="1188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89120" y="1325880"/>
            <a:ext cx="182880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1005840"/>
            <a:ext cx="1188720" cy="640080"/>
          </a:xfrm>
          <a:prstGeom prst="rect">
            <a:avLst/>
          </a:prstGeom>
          <a:solidFill>
            <a:srgbClr val="1A3A5C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1005840"/>
            <a:ext cx="1188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760720" y="1325880"/>
            <a:ext cx="182880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0" y="1005840"/>
            <a:ext cx="1188720" cy="640080"/>
          </a:xfrm>
          <a:prstGeom prst="rect">
            <a:avLst/>
          </a:prstGeom>
          <a:solidFill>
            <a:srgbClr val="1A3A5C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005840"/>
            <a:ext cx="1188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ORM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32320" y="1325880"/>
            <a:ext cx="182880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0" y="1005840"/>
            <a:ext cx="1188720" cy="64008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1005840"/>
            <a:ext cx="1188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DB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1920240"/>
            <a:ext cx="8595360" cy="512064"/>
          </a:xfrm>
          <a:prstGeom prst="rect">
            <a:avLst/>
          </a:prstGeom>
          <a:solidFill>
            <a:srgbClr val="0F1923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1993392"/>
            <a:ext cx="16459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B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/songs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103120" y="1993392"/>
            <a:ext cx="6583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· POST · PUT · DELETE — Song management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2532888"/>
            <a:ext cx="8595360" cy="512064"/>
          </a:xfrm>
          <a:prstGeom prst="rect">
            <a:avLst/>
          </a:prstGeom>
          <a:solidFill>
            <a:srgbClr val="0F1923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2606040"/>
            <a:ext cx="16459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B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/artists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103120" y="2606040"/>
            <a:ext cx="6583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· POST · PUT · DELETE — Artist management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4320" y="3145536"/>
            <a:ext cx="8595360" cy="512064"/>
          </a:xfrm>
          <a:prstGeom prst="rect">
            <a:avLst/>
          </a:prstGeom>
          <a:solidFill>
            <a:srgbClr val="0F1923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18688"/>
            <a:ext cx="16459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B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/recommend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103120" y="3218688"/>
            <a:ext cx="6583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/mood · /genre · /similar/{id} — Recommendations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3758184"/>
            <a:ext cx="8595360" cy="512064"/>
          </a:xfrm>
          <a:prstGeom prst="rect">
            <a:avLst/>
          </a:prstGeom>
          <a:solidFill>
            <a:srgbClr val="0F1923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831336"/>
            <a:ext cx="16459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B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/analytics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103120" y="3831336"/>
            <a:ext cx="6583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/genre-trends · /mood-distribution · /top-artists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4370832"/>
            <a:ext cx="8595360" cy="512064"/>
          </a:xfrm>
          <a:prstGeom prst="rect">
            <a:avLst/>
          </a:prstGeom>
          <a:solidFill>
            <a:srgbClr val="0F1923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443984"/>
            <a:ext cx="16459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B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/auth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103120" y="4443984"/>
            <a:ext cx="6583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/register · /login  |  GET /me — JWT auth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F7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Algorithm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914400"/>
          </a:xfrm>
          <a:prstGeom prst="rect">
            <a:avLst/>
          </a:prstGeom>
          <a:solidFill>
            <a:srgbClr val="1A2A3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Content-Based Filtering — Cosine Similarity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cosine_similarity(a, b)  =  (a · b) / (|a| × |b|)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2011680"/>
            <a:ext cx="2743200" cy="384048"/>
          </a:xfrm>
          <a:prstGeom prst="rect">
            <a:avLst/>
          </a:prstGeom>
          <a:solidFill>
            <a:srgbClr val="2C5F7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2011680"/>
            <a:ext cx="274320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danceability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2011680"/>
            <a:ext cx="2743200" cy="384048"/>
          </a:xfrm>
          <a:prstGeom prst="rect">
            <a:avLst/>
          </a:prstGeom>
          <a:solidFill>
            <a:srgbClr val="2C5F7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2011680"/>
            <a:ext cx="274320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2011680"/>
            <a:ext cx="2743200" cy="384048"/>
          </a:xfrm>
          <a:prstGeom prst="rect">
            <a:avLst/>
          </a:prstGeom>
          <a:solidFill>
            <a:srgbClr val="2C5F7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2011680"/>
            <a:ext cx="274320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514600"/>
            <a:ext cx="2743200" cy="384048"/>
          </a:xfrm>
          <a:prstGeom prst="rect">
            <a:avLst/>
          </a:prstGeom>
          <a:solidFill>
            <a:srgbClr val="2C5F7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2514600"/>
            <a:ext cx="274320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0" y="2514600"/>
            <a:ext cx="2743200" cy="384048"/>
          </a:xfrm>
          <a:prstGeom prst="rect">
            <a:avLst/>
          </a:prstGeom>
          <a:solidFill>
            <a:srgbClr val="2C5F7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0" y="2514600"/>
            <a:ext cx="274320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acousticness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2514600"/>
            <a:ext cx="2743200" cy="384048"/>
          </a:xfrm>
          <a:prstGeom prst="rect">
            <a:avLst/>
          </a:prstGeom>
          <a:solidFill>
            <a:srgbClr val="2C5F7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2514600"/>
            <a:ext cx="274320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speechiness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200400"/>
            <a:ext cx="2011680" cy="1554480"/>
          </a:xfrm>
          <a:prstGeom prst="rect">
            <a:avLst/>
          </a:prstGeom>
          <a:solidFill>
            <a:srgbClr val="1A2A3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3200400"/>
            <a:ext cx="2011680" cy="365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20040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3611880"/>
            <a:ext cx="20116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valence + high energy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423160" y="3200400"/>
            <a:ext cx="2011680" cy="1554480"/>
          </a:xfrm>
          <a:prstGeom prst="rect">
            <a:avLst/>
          </a:prstGeom>
          <a:solidFill>
            <a:srgbClr val="1A2A3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23160" y="3200400"/>
            <a:ext cx="2011680" cy="3657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23160" y="320040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23160" y="3611880"/>
            <a:ext cx="20116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valence + low energy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0" y="3200400"/>
            <a:ext cx="2011680" cy="1554480"/>
          </a:xfrm>
          <a:prstGeom prst="rect">
            <a:avLst/>
          </a:prstGeom>
          <a:solidFill>
            <a:srgbClr val="1A2A3A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0" y="3200400"/>
            <a:ext cx="2011680" cy="3657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0" y="320040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Energetic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0" y="3611880"/>
            <a:ext cx="20116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energy + high danceability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720840" y="3200400"/>
            <a:ext cx="2011680" cy="1554480"/>
          </a:xfrm>
          <a:prstGeom prst="rect">
            <a:avLst/>
          </a:prstGeom>
          <a:solidFill>
            <a:srgbClr val="1A2A3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20840" y="3200400"/>
            <a:ext cx="2011680" cy="3657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320040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720840" y="3611880"/>
            <a:ext cx="20116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energy + high acousticness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502920"/>
          </a:xfrm>
          <a:prstGeom prst="rect">
            <a:avLst/>
          </a:prstGeom>
          <a:solidFill>
            <a:srgbClr val="0F1923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B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http://127.0.0.1:8000/docs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74320" y="1554480"/>
            <a:ext cx="411480" cy="475488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554480"/>
            <a:ext cx="41148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554480"/>
            <a:ext cx="8138160" cy="475488"/>
          </a:xfrm>
          <a:prstGeom prst="rect">
            <a:avLst/>
          </a:prstGeom>
          <a:solidFill>
            <a:srgbClr val="0F1923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54480"/>
            <a:ext cx="777240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/analytics/genre-trends — Show top genres from dataset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2212848"/>
            <a:ext cx="411480" cy="475488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212848"/>
            <a:ext cx="41148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212848"/>
            <a:ext cx="8138160" cy="475488"/>
          </a:xfrm>
          <a:prstGeom prst="rect">
            <a:avLst/>
          </a:prstGeom>
          <a:solidFill>
            <a:srgbClr val="0F1923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212848"/>
            <a:ext cx="777240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/recommend/mood?mood=happy — Recommend happy songs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871216"/>
            <a:ext cx="411480" cy="475488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2871216"/>
            <a:ext cx="41148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2871216"/>
            <a:ext cx="8138160" cy="475488"/>
          </a:xfrm>
          <a:prstGeom prst="rect">
            <a:avLst/>
          </a:prstGeom>
          <a:solidFill>
            <a:srgbClr val="0F1923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2871216"/>
            <a:ext cx="777240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/recommend/similar/1 — Find similar songs using cosine similarity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3529584"/>
            <a:ext cx="411480" cy="475488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3529584"/>
            <a:ext cx="41148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3529584"/>
            <a:ext cx="8138160" cy="475488"/>
          </a:xfrm>
          <a:prstGeom prst="rect">
            <a:avLst/>
          </a:prstGeom>
          <a:solidFill>
            <a:srgbClr val="0F1923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529584"/>
            <a:ext cx="777240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/auth/register — Create a new user account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4187952"/>
            <a:ext cx="411480" cy="475488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4187952"/>
            <a:ext cx="41148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31520" y="4187952"/>
            <a:ext cx="8138160" cy="475488"/>
          </a:xfrm>
          <a:prstGeom prst="rect">
            <a:avLst/>
          </a:prstGeom>
          <a:solidFill>
            <a:srgbClr val="0F1923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187952"/>
            <a:ext cx="777240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/auth/login — Authenticate and receive JWT token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F7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— 16 Tests Passing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502920"/>
          </a:xfrm>
          <a:prstGeom prst="rect">
            <a:avLst/>
          </a:prstGeom>
          <a:solidFill>
            <a:srgbClr val="1A2A3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DB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tests/test_api.py -v  →  16 passed, 7 warnings in 0.77s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600200"/>
            <a:ext cx="4206240" cy="1051560"/>
          </a:xfrm>
          <a:prstGeom prst="rect">
            <a:avLst/>
          </a:prstGeom>
          <a:solidFill>
            <a:srgbClr val="1A2A3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600200"/>
            <a:ext cx="54864" cy="105156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64592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Operations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947672"/>
            <a:ext cx="39319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test_get_songs  ·  test_get_artists  ·  test_create_and_delete_artist  ·  test_create_and_delete_song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743200"/>
            <a:ext cx="4206240" cy="1051560"/>
          </a:xfrm>
          <a:prstGeom prst="rect">
            <a:avLst/>
          </a:prstGeom>
          <a:solidFill>
            <a:srgbClr val="1A2A3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2743200"/>
            <a:ext cx="54864" cy="105156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78892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3090672"/>
            <a:ext cx="39319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test_song_not_found (404)  ·  test_artist_not_found (404)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3886200"/>
            <a:ext cx="4206240" cy="1051560"/>
          </a:xfrm>
          <a:prstGeom prst="rect">
            <a:avLst/>
          </a:prstGeom>
          <a:solidFill>
            <a:srgbClr val="1A2A3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3886200"/>
            <a:ext cx="54864" cy="105156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93192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" y="4233672"/>
            <a:ext cx="39319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test_recommend_by_mood  ·  test_recommend_by_genre  ·  test_recommend_similar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09160" y="1600200"/>
            <a:ext cx="4206240" cy="1051560"/>
          </a:xfrm>
          <a:prstGeom prst="rect">
            <a:avLst/>
          </a:prstGeom>
          <a:solidFill>
            <a:srgbClr val="1A2A3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09160" y="1600200"/>
            <a:ext cx="54864" cy="105156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64592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1947672"/>
            <a:ext cx="39319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test_genre_trends  ·  test_mood_distribution  ·  test_top_artists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2743200"/>
            <a:ext cx="4206240" cy="1051560"/>
          </a:xfrm>
          <a:prstGeom prst="rect">
            <a:avLst/>
          </a:prstGeom>
          <a:solidFill>
            <a:srgbClr val="1A2A3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09160" y="2743200"/>
            <a:ext cx="54864" cy="105156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278892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46320" y="3090672"/>
            <a:ext cx="39319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test_register_user  ·  test_login_user  ·  test_root  ·  test_health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2400" b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457200"/>
          </a:xfrm>
          <a:prstGeom prst="rect">
            <a:avLst/>
          </a:prstGeom>
          <a:solidFill>
            <a:srgbClr val="0F1923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github.com/sc22cz/music-recommendation-api</a:t>
            </a:r>
            <a:endParaRPr lang="en-US" sz="1300" dirty="0">
              <a:solidFill>
                <a:schemeClr val="bg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4320" y="1572768"/>
            <a:ext cx="164592" cy="164592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08760"/>
            <a:ext cx="8321040" cy="310896"/>
          </a:xfrm>
          <a:prstGeom prst="rect">
            <a:avLst/>
          </a:prstGeom>
          <a:solidFill>
            <a:srgbClr val="0F1923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08760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feat: initial project structure and dependencies</a:t>
            </a:r>
            <a:endParaRPr lang="en-US" sz="1000" dirty="0">
              <a:solidFill>
                <a:schemeClr val="bg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4320" y="1911096"/>
            <a:ext cx="164592" cy="164592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847088"/>
            <a:ext cx="8321040" cy="310896"/>
          </a:xfrm>
          <a:prstGeom prst="rect">
            <a:avLst/>
          </a:prstGeom>
          <a:solidFill>
            <a:srgbClr val="0F1923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47088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feat: add SQLAlchemy models for Song, Artist, User, Rating</a:t>
            </a:r>
            <a:endParaRPr lang="en-US" sz="1000" dirty="0">
              <a:solidFill>
                <a:schemeClr val="bg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74320" y="2249424"/>
            <a:ext cx="164592" cy="164592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185416"/>
            <a:ext cx="8321040" cy="310896"/>
          </a:xfrm>
          <a:prstGeom prst="rect">
            <a:avLst/>
          </a:prstGeom>
          <a:solidFill>
            <a:srgbClr val="0F1923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185416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feat: add CRUD endpoints for songs and artists</a:t>
            </a:r>
            <a:endParaRPr lang="en-US" sz="1000" dirty="0">
              <a:solidFill>
                <a:schemeClr val="bg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74320" y="2587752"/>
            <a:ext cx="164592" cy="164592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523744"/>
            <a:ext cx="8321040" cy="310896"/>
          </a:xfrm>
          <a:prstGeom prst="rect">
            <a:avLst/>
          </a:prstGeom>
          <a:solidFill>
            <a:srgbClr val="0F1923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523744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feat: add Spotify dataset import script with 4404 songs</a:t>
            </a:r>
            <a:endParaRPr lang="en-US" sz="1000" dirty="0">
              <a:solidFill>
                <a:schemeClr val="bg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74320" y="2926080"/>
            <a:ext cx="164592" cy="164592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2862072"/>
            <a:ext cx="8321040" cy="310896"/>
          </a:xfrm>
          <a:prstGeom prst="rect">
            <a:avLst/>
          </a:prstGeom>
          <a:solidFill>
            <a:srgbClr val="0F1923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862072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feat: add recommendation engine with mood, genre and similarity</a:t>
            </a:r>
            <a:endParaRPr lang="en-US" sz="1000" dirty="0">
              <a:solidFill>
                <a:schemeClr val="bg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274320" y="3264408"/>
            <a:ext cx="164592" cy="164592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3200400"/>
            <a:ext cx="8321040" cy="310896"/>
          </a:xfrm>
          <a:prstGeom prst="rect">
            <a:avLst/>
          </a:prstGeom>
          <a:solidFill>
            <a:srgbClr val="0F1923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200400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feat: add analytics endpoints for genre trends and mood distribution</a:t>
            </a:r>
            <a:endParaRPr lang="en-US" sz="1000" dirty="0">
              <a:solidFill>
                <a:schemeClr val="bg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274320" y="3602736"/>
            <a:ext cx="164592" cy="164592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3538728"/>
            <a:ext cx="8321040" cy="310896"/>
          </a:xfrm>
          <a:prstGeom prst="rect">
            <a:avLst/>
          </a:prstGeom>
          <a:solidFill>
            <a:srgbClr val="0F1923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3538728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feat: add JWT authentication with register and login endpoints</a:t>
            </a:r>
            <a:endParaRPr lang="en-US" sz="1000" dirty="0">
              <a:solidFill>
                <a:schemeClr val="bg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74320" y="3941064"/>
            <a:ext cx="164592" cy="164592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3877056"/>
            <a:ext cx="8321040" cy="310896"/>
          </a:xfrm>
          <a:prstGeom prst="rect">
            <a:avLst/>
          </a:prstGeom>
          <a:solidFill>
            <a:srgbClr val="0F1923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3877056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feat: add pytest test suite with 16 passing tests</a:t>
            </a:r>
            <a:endParaRPr lang="en-US" sz="1000" dirty="0">
              <a:solidFill>
                <a:schemeClr val="bg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274320" y="4279392"/>
            <a:ext cx="164592" cy="164592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4215384"/>
            <a:ext cx="8321040" cy="310896"/>
          </a:xfrm>
          <a:prstGeom prst="rect">
            <a:avLst/>
          </a:prstGeom>
          <a:solidFill>
            <a:srgbClr val="0F1923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" y="4215384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docs: add API documentation PDF</a:t>
            </a:r>
            <a:endParaRPr lang="en-US" sz="1000" dirty="0">
              <a:solidFill>
                <a:schemeClr val="bg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274320" y="4617720"/>
            <a:ext cx="164592" cy="164592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4553712"/>
            <a:ext cx="8321040" cy="310896"/>
          </a:xfrm>
          <a:prstGeom prst="rect">
            <a:avLst/>
          </a:prstGeom>
          <a:solidFill>
            <a:srgbClr val="0F1923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553712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docs: add technical report PDF</a:t>
            </a:r>
            <a:endParaRPr lang="en-US" sz="1000" dirty="0">
              <a:solidFill>
                <a:schemeClr val="bg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F7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Declaration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502920"/>
          </a:xfrm>
          <a:prstGeom prst="rect">
            <a:avLst/>
          </a:prstGeom>
          <a:solidFill>
            <a:srgbClr val="1A2A3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Claude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572768"/>
            <a:ext cx="8595360" cy="603504"/>
          </a:xfrm>
          <a:prstGeom prst="rect">
            <a:avLst/>
          </a:prstGeom>
          <a:solidFill>
            <a:srgbClr val="1A2A3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572768"/>
            <a:ext cx="54864" cy="603504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0934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Planning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865376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overall project structure, layered architecture, and endpoint organisation before writing code</a:t>
            </a:r>
            <a:endParaRPr lang="en-US" sz="10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74320" y="2267712"/>
            <a:ext cx="8595360" cy="603504"/>
          </a:xfrm>
          <a:prstGeom prst="rect">
            <a:avLst/>
          </a:prstGeom>
          <a:solidFill>
            <a:srgbClr val="1A2A3A"/>
          </a:solidFill>
          <a:ln w="12700">
            <a:solidFill>
              <a:srgbClr val="2C5F7A"/>
            </a:solidFill>
            <a:prstDash val="solid"/>
          </a:ln>
        </p:spPr>
        <p:txBody>
          <a:bodyPr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4320" y="2267712"/>
            <a:ext cx="54864" cy="603504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042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Generation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56032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1000" dirty="0">
                <a:solidFill>
                  <a:schemeClr val="bg1"/>
                </a:solidFill>
              </a:rPr>
              <a:t>Partial code generation: Some features that I cannot write were completed with the</a:t>
            </a:r>
            <a:endParaRPr lang="en-US" altLang="en-US" sz="10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altLang="en-US" sz="1000" dirty="0">
                <a:solidFill>
                  <a:schemeClr val="bg1"/>
                </a:solidFill>
              </a:rPr>
              <a:t>aid of AI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74320" y="2962656"/>
            <a:ext cx="8595360" cy="603504"/>
          </a:xfrm>
          <a:prstGeom prst="rect">
            <a:avLst/>
          </a:prstGeom>
          <a:solidFill>
            <a:srgbClr val="1A2A3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2962656"/>
            <a:ext cx="54864" cy="603504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99923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255264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module import failures, bcrypt version conflicts, virtual environment configuration issues</a:t>
            </a:r>
            <a:endParaRPr lang="en-US" sz="10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74320" y="3657600"/>
            <a:ext cx="8595360" cy="603504"/>
          </a:xfrm>
          <a:prstGeom prst="rect">
            <a:avLst/>
          </a:prstGeom>
          <a:solidFill>
            <a:srgbClr val="1A2A3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" y="3657600"/>
            <a:ext cx="54864" cy="603504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69417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Exploration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95020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Spotify Tracks Dataset and generated bulk CSV import script</a:t>
            </a:r>
            <a:endParaRPr lang="en-US" sz="10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74320" y="4352544"/>
            <a:ext cx="8595360" cy="603504"/>
          </a:xfrm>
          <a:prstGeom prst="rect">
            <a:avLst/>
          </a:prstGeom>
          <a:solidFill>
            <a:srgbClr val="1A2A3A"/>
          </a:solidFill>
          <a:ln w="12700">
            <a:solidFill>
              <a:srgbClr val="2C5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4320" y="4352544"/>
            <a:ext cx="54864" cy="603504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38912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Writing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64515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1000" dirty="0">
                <a:solidFill>
                  <a:schemeClr val="bg1"/>
                </a:solidFill>
              </a:rPr>
              <a:t>Constructing a report framework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160520" cy="1828800"/>
          </a:xfrm>
          <a:prstGeom prst="rect">
            <a:avLst/>
          </a:prstGeom>
          <a:solidFill>
            <a:srgbClr val="1A2A3A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384048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deployment (PythonAnywhere disk quota)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searches 500 songs only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filtering not fully implemented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09160" y="914400"/>
            <a:ext cx="4160520" cy="1828800"/>
          </a:xfrm>
          <a:prstGeom prst="rect">
            <a:avLst/>
          </a:prstGeom>
          <a:solidFill>
            <a:srgbClr val="1A2A3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96012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46320" y="1371600"/>
            <a:ext cx="384048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 Railway or Render (free tier)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vector DB for scalable recommendations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SVD-based collaborative filtering (surprise library)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 Web API integration for real-time data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926080"/>
            <a:ext cx="8595360" cy="1737360"/>
          </a:xfrm>
          <a:prstGeom prst="rect">
            <a:avLst/>
          </a:prstGeom>
          <a:solidFill>
            <a:srgbClr val="1A2A3A"/>
          </a:solidFill>
          <a:ln w="12700">
            <a:solidFill>
              <a:srgbClr val="1DB9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83280"/>
            <a:ext cx="82296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functional Music Recommendation API with CRUD, JWT auth, content-based recommendations, and analytics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4,404 real Spotify tracks imported, 16 automated tests passing, comprehensive documentation provided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GenAI usage throughout — architecture, code, debugging, and reporting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4151</Words>
  <Application>WPS Presentation</Application>
  <PresentationFormat>On-screen Show (16:9)</PresentationFormat>
  <Paragraphs>239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6" baseType="lpstr">
      <vt:lpstr>Arial</vt:lpstr>
      <vt:lpstr>SimSun</vt:lpstr>
      <vt:lpstr>Wingdings</vt:lpstr>
      <vt:lpstr>Calibri</vt:lpstr>
      <vt:lpstr>Helvetica Neue</vt:lpstr>
      <vt:lpstr>Calibri</vt:lpstr>
      <vt:lpstr>Calibri</vt:lpstr>
      <vt:lpstr>Consolas</vt:lpstr>
      <vt:lpstr>Consolas</vt:lpstr>
      <vt:lpstr>Consolas</vt:lpstr>
      <vt:lpstr>Microsoft YaHei</vt:lpstr>
      <vt:lpstr>汉仪旗黑</vt:lpstr>
      <vt:lpstr>Arial Unicode MS</vt:lpstr>
      <vt:lpstr>苹方-简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Music Recommendation API</dc:title>
  <dc:creator>PptxGenJS</dc:creator>
  <dc:subject>PptxGenJS Presentation</dc:subject>
  <cp:lastModifiedBy>EarthHidden</cp:lastModifiedBy>
  <cp:revision>4</cp:revision>
  <dcterms:created xsi:type="dcterms:W3CDTF">2026-03-29T10:36:44Z</dcterms:created>
  <dcterms:modified xsi:type="dcterms:W3CDTF">2026-03-29T10:36:44Z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2E2C645F1DD882DFB8FAC869E2B9EDBF_42</vt:lpwstr>
  </property>
  <property fmtid="{D5CDD505-2E9C-101B-9397-08002B2CF9AE}" pid="3" name="KSOProductBuildVer">
    <vt:lpwstr>1033-12.1.24709.24709</vt:lpwstr>
  </property>
</Properties>
</file>